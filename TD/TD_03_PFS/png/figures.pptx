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38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01/04/2012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01/04/2012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01/04/2012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01/04/2012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01/04/2012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01/04/2012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01/04/2012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01/04/2012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01/04/2012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01/04/2012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01/04/2012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01/04/2012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/>
          <p:cNvCxnSpPr/>
          <p:nvPr/>
        </p:nvCxnSpPr>
        <p:spPr>
          <a:xfrm>
            <a:off x="1691680" y="1268760"/>
            <a:ext cx="0" cy="284564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>
            <a:off x="3131840" y="2008188"/>
            <a:ext cx="0" cy="210621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1691680" y="2008188"/>
            <a:ext cx="14401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1691680" y="4114407"/>
            <a:ext cx="14401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1207692" y="1805439"/>
                <a:ext cx="3986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/>
                        </a:rPr>
                        <m:t>𝑂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692" y="1805439"/>
                <a:ext cx="398699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/>
              <p:cNvSpPr txBox="1"/>
              <p:nvPr/>
            </p:nvSpPr>
            <p:spPr>
              <a:xfrm>
                <a:off x="1161653" y="1084094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fr-F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653" y="1084094"/>
                <a:ext cx="490775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eur droit 20"/>
          <p:cNvCxnSpPr/>
          <p:nvPr/>
        </p:nvCxnSpPr>
        <p:spPr>
          <a:xfrm flipV="1">
            <a:off x="1691680" y="2008189"/>
            <a:ext cx="2088232" cy="1"/>
          </a:xfrm>
          <a:prstGeom prst="line">
            <a:avLst/>
          </a:prstGeom>
          <a:ln w="12700">
            <a:solidFill>
              <a:schemeClr val="accent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 flipV="1">
            <a:off x="1690167" y="548680"/>
            <a:ext cx="0" cy="1441427"/>
          </a:xfrm>
          <a:prstGeom prst="line">
            <a:avLst/>
          </a:prstGeom>
          <a:ln w="12700">
            <a:solidFill>
              <a:schemeClr val="accent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/>
              <p:cNvSpPr txBox="1"/>
              <p:nvPr/>
            </p:nvSpPr>
            <p:spPr>
              <a:xfrm>
                <a:off x="3766617" y="1792015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7" name="ZoneTexte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6617" y="1792015"/>
                <a:ext cx="371384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22951" r="-26230" b="-49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/>
              <p:cNvSpPr txBox="1"/>
              <p:nvPr/>
            </p:nvSpPr>
            <p:spPr>
              <a:xfrm>
                <a:off x="1691680" y="364014"/>
                <a:ext cx="353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8" name="ZoneTexte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364014"/>
                <a:ext cx="353750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23333" r="-258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necteur droit 28"/>
          <p:cNvCxnSpPr/>
          <p:nvPr/>
        </p:nvCxnSpPr>
        <p:spPr>
          <a:xfrm flipV="1">
            <a:off x="1695922" y="4509121"/>
            <a:ext cx="1435918" cy="1"/>
          </a:xfrm>
          <a:prstGeom prst="line">
            <a:avLst/>
          </a:prstGeom>
          <a:ln w="12700">
            <a:solidFill>
              <a:schemeClr val="accent1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 flipV="1">
            <a:off x="3419872" y="2008191"/>
            <a:ext cx="0" cy="2106216"/>
          </a:xfrm>
          <a:prstGeom prst="line">
            <a:avLst/>
          </a:prstGeom>
          <a:ln w="12700">
            <a:solidFill>
              <a:schemeClr val="accent1"/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/>
              <p:cNvSpPr txBox="1"/>
              <p:nvPr/>
            </p:nvSpPr>
            <p:spPr>
              <a:xfrm>
                <a:off x="2212410" y="412700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4" name="ZoneTexte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410" y="4127003"/>
                <a:ext cx="371448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/>
              <p:cNvSpPr txBox="1"/>
              <p:nvPr/>
            </p:nvSpPr>
            <p:spPr>
              <a:xfrm>
                <a:off x="3421993" y="2876633"/>
                <a:ext cx="367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5" name="ZoneTexte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993" y="2876633"/>
                <a:ext cx="367665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0295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e 20"/>
          <p:cNvGrpSpPr/>
          <p:nvPr/>
        </p:nvGrpSpPr>
        <p:grpSpPr>
          <a:xfrm>
            <a:off x="0" y="1383246"/>
            <a:ext cx="4392488" cy="2507332"/>
            <a:chOff x="4355976" y="1196752"/>
            <a:chExt cx="4392488" cy="2507332"/>
          </a:xfrm>
        </p:grpSpPr>
        <p:sp>
          <p:nvSpPr>
            <p:cNvPr id="12" name="Arc 11"/>
            <p:cNvSpPr/>
            <p:nvPr/>
          </p:nvSpPr>
          <p:spPr>
            <a:xfrm flipV="1">
              <a:off x="4355976" y="1851509"/>
              <a:ext cx="1800200" cy="1080120"/>
            </a:xfrm>
            <a:prstGeom prst="arc">
              <a:avLst>
                <a:gd name="adj1" fmla="val 17518208"/>
                <a:gd name="adj2" fmla="val 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Arc 12"/>
            <p:cNvSpPr/>
            <p:nvPr/>
          </p:nvSpPr>
          <p:spPr>
            <a:xfrm flipH="1" flipV="1">
              <a:off x="6948264" y="1851509"/>
              <a:ext cx="1800200" cy="1080120"/>
            </a:xfrm>
            <a:prstGeom prst="arc">
              <a:avLst>
                <a:gd name="adj1" fmla="val 17518208"/>
                <a:gd name="adj2" fmla="val 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Arc 13"/>
            <p:cNvSpPr/>
            <p:nvPr/>
          </p:nvSpPr>
          <p:spPr>
            <a:xfrm flipH="1" flipV="1">
              <a:off x="6370637" y="1851509"/>
              <a:ext cx="1800200" cy="1600547"/>
            </a:xfrm>
            <a:prstGeom prst="arc">
              <a:avLst>
                <a:gd name="adj1" fmla="val 19015835"/>
                <a:gd name="adj2" fmla="val 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Ellipse 3"/>
            <p:cNvSpPr/>
            <p:nvPr/>
          </p:nvSpPr>
          <p:spPr>
            <a:xfrm>
              <a:off x="6012160" y="2204864"/>
              <a:ext cx="1080120" cy="50405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>
                  <a:solidFill>
                    <a:schemeClr val="tx2"/>
                  </a:solidFill>
                </a:rPr>
                <a:t>Frein de sécurité</a:t>
              </a:r>
              <a:endParaRPr lang="fr-FR" sz="1200" dirty="0">
                <a:solidFill>
                  <a:schemeClr val="tx2"/>
                </a:solidFill>
              </a:endParaRPr>
            </a:p>
          </p:txBody>
        </p:sp>
        <p:sp>
          <p:nvSpPr>
            <p:cNvPr id="7" name="Ellipse 6"/>
            <p:cNvSpPr/>
            <p:nvPr/>
          </p:nvSpPr>
          <p:spPr>
            <a:xfrm>
              <a:off x="4644008" y="2636912"/>
              <a:ext cx="1080120" cy="50405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>
                  <a:solidFill>
                    <a:schemeClr val="tx2"/>
                  </a:solidFill>
                </a:rPr>
                <a:t>Bâti</a:t>
              </a:r>
              <a:endParaRPr lang="fr-FR" sz="1200" dirty="0">
                <a:solidFill>
                  <a:schemeClr val="tx2"/>
                </a:solidFill>
              </a:endParaRPr>
            </a:p>
          </p:txBody>
        </p:sp>
        <p:sp>
          <p:nvSpPr>
            <p:cNvPr id="8" name="Ellipse 7"/>
            <p:cNvSpPr/>
            <p:nvPr/>
          </p:nvSpPr>
          <p:spPr>
            <a:xfrm>
              <a:off x="5904148" y="3200028"/>
              <a:ext cx="1296144" cy="50405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>
                  <a:solidFill>
                    <a:schemeClr val="tx2"/>
                  </a:solidFill>
                </a:rPr>
                <a:t>Conditions extérieures</a:t>
              </a:r>
              <a:endParaRPr lang="fr-FR" sz="1200" dirty="0">
                <a:solidFill>
                  <a:schemeClr val="tx2"/>
                </a:solidFill>
              </a:endParaRPr>
            </a:p>
          </p:txBody>
        </p:sp>
        <p:sp>
          <p:nvSpPr>
            <p:cNvPr id="11" name="Arc 10"/>
            <p:cNvSpPr/>
            <p:nvPr/>
          </p:nvSpPr>
          <p:spPr>
            <a:xfrm flipV="1">
              <a:off x="5652120" y="1196752"/>
              <a:ext cx="1800200" cy="1080120"/>
            </a:xfrm>
            <a:prstGeom prst="arc">
              <a:avLst>
                <a:gd name="adj1" fmla="val 10967259"/>
                <a:gd name="adj2" fmla="val 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/>
            <p:cNvSpPr/>
            <p:nvPr/>
          </p:nvSpPr>
          <p:spPr>
            <a:xfrm>
              <a:off x="7380312" y="2636912"/>
              <a:ext cx="1080120" cy="50405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>
                  <a:solidFill>
                    <a:schemeClr val="tx2"/>
                  </a:solidFill>
                </a:rPr>
                <a:t>Energie</a:t>
              </a:r>
              <a:endParaRPr lang="fr-FR" sz="1200" dirty="0">
                <a:solidFill>
                  <a:schemeClr val="tx2"/>
                </a:solidFill>
              </a:endParaRPr>
            </a:p>
          </p:txBody>
        </p:sp>
        <p:sp>
          <p:nvSpPr>
            <p:cNvPr id="5" name="Ellipse 4"/>
            <p:cNvSpPr/>
            <p:nvPr/>
          </p:nvSpPr>
          <p:spPr>
            <a:xfrm>
              <a:off x="4932040" y="1460612"/>
              <a:ext cx="1080120" cy="50405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>
                  <a:solidFill>
                    <a:schemeClr val="tx2"/>
                  </a:solidFill>
                </a:rPr>
                <a:t>Grutier</a:t>
              </a:r>
              <a:endParaRPr lang="fr-FR" sz="1200" dirty="0">
                <a:solidFill>
                  <a:schemeClr val="tx2"/>
                </a:solidFill>
              </a:endParaRPr>
            </a:p>
          </p:txBody>
        </p:sp>
        <p:sp>
          <p:nvSpPr>
            <p:cNvPr id="6" name="Ellipse 5"/>
            <p:cNvSpPr/>
            <p:nvPr/>
          </p:nvSpPr>
          <p:spPr>
            <a:xfrm>
              <a:off x="7092280" y="1460612"/>
              <a:ext cx="1080120" cy="50405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>
                  <a:solidFill>
                    <a:schemeClr val="tx2"/>
                  </a:solidFill>
                </a:rPr>
                <a:t>Objet à porter</a:t>
              </a:r>
              <a:endParaRPr lang="fr-FR" sz="1200" dirty="0">
                <a:solidFill>
                  <a:schemeClr val="tx2"/>
                </a:solidFill>
              </a:endParaRPr>
            </a:p>
          </p:txBody>
        </p:sp>
        <p:sp>
          <p:nvSpPr>
            <p:cNvPr id="15" name="ZoneTexte 14"/>
            <p:cNvSpPr txBox="1"/>
            <p:nvPr/>
          </p:nvSpPr>
          <p:spPr>
            <a:xfrm>
              <a:off x="5472100" y="2000086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b="1" dirty="0" smtClean="0"/>
                <a:t>FS1</a:t>
              </a:r>
              <a:endParaRPr lang="fr-FR" sz="1200" b="1" dirty="0"/>
            </a:p>
          </p:txBody>
        </p:sp>
        <p:sp>
          <p:nvSpPr>
            <p:cNvPr id="16" name="ZoneTexte 15"/>
            <p:cNvSpPr txBox="1"/>
            <p:nvPr/>
          </p:nvSpPr>
          <p:spPr>
            <a:xfrm>
              <a:off x="5603143" y="2498412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b="1" dirty="0" smtClean="0"/>
                <a:t>FS2</a:t>
              </a:r>
              <a:endParaRPr lang="fr-FR" sz="1200" b="1" dirty="0"/>
            </a:p>
          </p:txBody>
        </p:sp>
        <p:sp>
          <p:nvSpPr>
            <p:cNvPr id="17" name="ZoneTexte 16"/>
            <p:cNvSpPr txBox="1"/>
            <p:nvPr/>
          </p:nvSpPr>
          <p:spPr>
            <a:xfrm>
              <a:off x="7054713" y="2489497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b="1" dirty="0" smtClean="0"/>
                <a:t>FS3</a:t>
              </a:r>
              <a:endParaRPr lang="fr-FR" sz="1200" b="1" dirty="0"/>
            </a:p>
          </p:txBody>
        </p:sp>
        <p:sp>
          <p:nvSpPr>
            <p:cNvPr id="18" name="ZoneTexte 17"/>
            <p:cNvSpPr txBox="1"/>
            <p:nvPr/>
          </p:nvSpPr>
          <p:spPr>
            <a:xfrm>
              <a:off x="6420147" y="2863411"/>
              <a:ext cx="4320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b="1" dirty="0" smtClean="0"/>
                <a:t>FS4</a:t>
              </a:r>
              <a:endParaRPr lang="fr-FR" sz="1200" b="1" dirty="0"/>
            </a:p>
          </p:txBody>
        </p:sp>
      </p:grpSp>
      <p:graphicFrame>
        <p:nvGraphicFramePr>
          <p:cNvPr id="20" name="Tableau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34608"/>
              </p:ext>
            </p:extLst>
          </p:nvPr>
        </p:nvGraphicFramePr>
        <p:xfrm>
          <a:off x="4272768" y="2867805"/>
          <a:ext cx="4871232" cy="100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288"/>
                <a:gridCol w="1728192"/>
                <a:gridCol w="1368152"/>
                <a:gridCol w="971600"/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/>
                        <a:t>Fonction</a:t>
                      </a:r>
                      <a:endParaRPr lang="fr-F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/>
                        <a:t>Intitulé</a:t>
                      </a:r>
                      <a:endParaRPr lang="fr-F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/>
                        <a:t>Critère</a:t>
                      </a:r>
                      <a:endParaRPr lang="fr-F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 smtClean="0"/>
                        <a:t>Niveau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 smtClean="0"/>
                        <a:t>FS</a:t>
                      </a:r>
                      <a:r>
                        <a:rPr lang="fr-FR" sz="1200" b="1" baseline="0" dirty="0" smtClean="0"/>
                        <a:t> 1</a:t>
                      </a:r>
                      <a:endParaRPr lang="fr-FR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Permettre au grutier de freiner la chute des objets à porter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/>
                        <a:t>Poids maximal</a:t>
                      </a:r>
                      <a:r>
                        <a:rPr lang="fr-FR" sz="1200" baseline="0" dirty="0" smtClean="0"/>
                        <a:t> des objets à porter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/>
                        <a:t>60 000 N</a:t>
                      </a:r>
                      <a:endParaRPr lang="fr-FR" sz="12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2" name="ZoneTexte 21"/>
          <p:cNvSpPr txBox="1"/>
          <p:nvPr/>
        </p:nvSpPr>
        <p:spPr>
          <a:xfrm>
            <a:off x="4283968" y="1853909"/>
            <a:ext cx="4860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smtClean="0"/>
              <a:t>FS 1 : Permettre au grutier de freiner la chute des objets à porter</a:t>
            </a:r>
          </a:p>
          <a:p>
            <a:r>
              <a:rPr lang="fr-FR" sz="1200" b="1" dirty="0" smtClean="0"/>
              <a:t>FS 2 : S’adapter au bâti</a:t>
            </a:r>
          </a:p>
          <a:p>
            <a:r>
              <a:rPr lang="fr-FR" sz="1200" b="1" dirty="0" smtClean="0"/>
              <a:t>FS 3 : S’adapter à l’énergie</a:t>
            </a:r>
          </a:p>
          <a:p>
            <a:r>
              <a:rPr lang="fr-FR" sz="1200" b="1" dirty="0" smtClean="0"/>
              <a:t>FS 4 : Résister aux conditions extérieures</a:t>
            </a:r>
            <a:endParaRPr lang="fr-FR" sz="1200" b="1" dirty="0"/>
          </a:p>
        </p:txBody>
      </p:sp>
    </p:spTree>
    <p:extLst>
      <p:ext uri="{BB962C8B-B14F-4D97-AF65-F5344CB8AC3E}">
        <p14:creationId xmlns:p14="http://schemas.microsoft.com/office/powerpoint/2010/main" val="2396953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2843808" y="3832906"/>
            <a:ext cx="360040" cy="33396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4509023" y="3833707"/>
            <a:ext cx="360040" cy="333964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19050">
                <a:solidFill>
                  <a:schemeClr val="tx1"/>
                </a:solidFill>
              </a:ln>
            </a:endParaRPr>
          </a:p>
        </p:txBody>
      </p:sp>
      <p:sp>
        <p:nvSpPr>
          <p:cNvPr id="21" name="Ellipse 20"/>
          <p:cNvSpPr/>
          <p:nvPr/>
        </p:nvSpPr>
        <p:spPr>
          <a:xfrm>
            <a:off x="3131840" y="3280609"/>
            <a:ext cx="1440160" cy="144016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4" name="Connecteur droit 83"/>
          <p:cNvCxnSpPr/>
          <p:nvPr/>
        </p:nvCxnSpPr>
        <p:spPr>
          <a:xfrm flipV="1">
            <a:off x="4211960" y="3981321"/>
            <a:ext cx="0" cy="144016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lipse 3"/>
          <p:cNvSpPr/>
          <p:nvPr/>
        </p:nvSpPr>
        <p:spPr>
          <a:xfrm>
            <a:off x="2699792" y="4718454"/>
            <a:ext cx="288032" cy="288032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2699792" y="5229200"/>
            <a:ext cx="288032" cy="108012"/>
          </a:xfrm>
          <a:prstGeom prst="rect">
            <a:avLst/>
          </a:prstGeom>
          <a:pattFill prst="ltUpDiag">
            <a:fgClr>
              <a:srgbClr val="7030A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/>
          <p:cNvCxnSpPr/>
          <p:nvPr/>
        </p:nvCxnSpPr>
        <p:spPr>
          <a:xfrm>
            <a:off x="2699792" y="5229200"/>
            <a:ext cx="288032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>
            <a:stCxn id="5" idx="0"/>
            <a:endCxn id="4" idx="4"/>
          </p:cNvCxnSpPr>
          <p:nvPr/>
        </p:nvCxnSpPr>
        <p:spPr>
          <a:xfrm flipV="1">
            <a:off x="2843808" y="5006486"/>
            <a:ext cx="0" cy="222714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lipse 12"/>
          <p:cNvSpPr/>
          <p:nvPr/>
        </p:nvSpPr>
        <p:spPr>
          <a:xfrm>
            <a:off x="4716016" y="4718454"/>
            <a:ext cx="288032" cy="288032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4716016" y="5229200"/>
            <a:ext cx="288032" cy="108012"/>
          </a:xfrm>
          <a:prstGeom prst="rect">
            <a:avLst/>
          </a:prstGeom>
          <a:pattFill prst="ltUpDiag">
            <a:fgClr>
              <a:srgbClr val="7030A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14"/>
          <p:cNvCxnSpPr/>
          <p:nvPr/>
        </p:nvCxnSpPr>
        <p:spPr>
          <a:xfrm>
            <a:off x="4716016" y="5229200"/>
            <a:ext cx="288032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>
            <a:stCxn id="14" idx="0"/>
            <a:endCxn id="13" idx="4"/>
          </p:cNvCxnSpPr>
          <p:nvPr/>
        </p:nvCxnSpPr>
        <p:spPr>
          <a:xfrm flipV="1">
            <a:off x="4860032" y="5006486"/>
            <a:ext cx="0" cy="222714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lipse 16"/>
          <p:cNvSpPr/>
          <p:nvPr/>
        </p:nvSpPr>
        <p:spPr>
          <a:xfrm>
            <a:off x="5868144" y="4718454"/>
            <a:ext cx="288032" cy="288032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5868144" y="5229200"/>
            <a:ext cx="288032" cy="108012"/>
          </a:xfrm>
          <a:prstGeom prst="rect">
            <a:avLst/>
          </a:prstGeom>
          <a:pattFill prst="ltUpDiag">
            <a:fgClr>
              <a:srgbClr val="7030A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Connecteur droit 18"/>
          <p:cNvCxnSpPr/>
          <p:nvPr/>
        </p:nvCxnSpPr>
        <p:spPr>
          <a:xfrm>
            <a:off x="5868144" y="5229200"/>
            <a:ext cx="288032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>
            <a:stCxn id="18" idx="0"/>
            <a:endCxn id="17" idx="4"/>
          </p:cNvCxnSpPr>
          <p:nvPr/>
        </p:nvCxnSpPr>
        <p:spPr>
          <a:xfrm flipV="1">
            <a:off x="6012160" y="5006486"/>
            <a:ext cx="0" cy="222714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lipse 21"/>
          <p:cNvSpPr/>
          <p:nvPr/>
        </p:nvSpPr>
        <p:spPr>
          <a:xfrm>
            <a:off x="2699792" y="2992577"/>
            <a:ext cx="288032" cy="288032"/>
          </a:xfrm>
          <a:prstGeom prst="ellipse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22"/>
          <p:cNvSpPr/>
          <p:nvPr/>
        </p:nvSpPr>
        <p:spPr>
          <a:xfrm>
            <a:off x="4716016" y="2973209"/>
            <a:ext cx="288032" cy="288032"/>
          </a:xfrm>
          <a:prstGeom prst="ellipse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/>
          <p:cNvSpPr/>
          <p:nvPr/>
        </p:nvSpPr>
        <p:spPr>
          <a:xfrm>
            <a:off x="3775537" y="3924306"/>
            <a:ext cx="152766" cy="152766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/>
          <p:cNvSpPr/>
          <p:nvPr/>
        </p:nvSpPr>
        <p:spPr>
          <a:xfrm>
            <a:off x="3775537" y="4162760"/>
            <a:ext cx="144016" cy="54006"/>
          </a:xfrm>
          <a:prstGeom prst="rect">
            <a:avLst/>
          </a:prstGeom>
          <a:pattFill prst="ltUpDiag">
            <a:fgClr>
              <a:srgbClr val="7030A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6" name="Connecteur droit 25"/>
          <p:cNvCxnSpPr/>
          <p:nvPr/>
        </p:nvCxnSpPr>
        <p:spPr>
          <a:xfrm>
            <a:off x="3775537" y="4162760"/>
            <a:ext cx="144016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/>
          <p:cNvCxnSpPr>
            <a:stCxn id="25" idx="0"/>
            <a:endCxn id="24" idx="4"/>
          </p:cNvCxnSpPr>
          <p:nvPr/>
        </p:nvCxnSpPr>
        <p:spPr>
          <a:xfrm flipV="1">
            <a:off x="3847545" y="4077072"/>
            <a:ext cx="4375" cy="85688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lipse 35"/>
          <p:cNvSpPr/>
          <p:nvPr/>
        </p:nvSpPr>
        <p:spPr>
          <a:xfrm>
            <a:off x="3483130" y="3636274"/>
            <a:ext cx="728830" cy="728830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7" name="Connecteur droit 36"/>
          <p:cNvCxnSpPr/>
          <p:nvPr/>
        </p:nvCxnSpPr>
        <p:spPr>
          <a:xfrm flipV="1">
            <a:off x="5794367" y="3431544"/>
            <a:ext cx="0" cy="115212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>
            <a:off x="5794367" y="4581128"/>
            <a:ext cx="433817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 flipV="1">
            <a:off x="6228184" y="3431544"/>
            <a:ext cx="0" cy="115212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/>
        </p:nvCxnSpPr>
        <p:spPr>
          <a:xfrm>
            <a:off x="5794367" y="3429000"/>
            <a:ext cx="145785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/>
        </p:nvCxnSpPr>
        <p:spPr>
          <a:xfrm>
            <a:off x="6084168" y="3431544"/>
            <a:ext cx="14401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/>
        </p:nvCxnSpPr>
        <p:spPr>
          <a:xfrm>
            <a:off x="5868144" y="4162760"/>
            <a:ext cx="28803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>
            <a:endCxn id="51" idx="4"/>
          </p:cNvCxnSpPr>
          <p:nvPr/>
        </p:nvCxnSpPr>
        <p:spPr>
          <a:xfrm flipV="1">
            <a:off x="6012160" y="2348880"/>
            <a:ext cx="0" cy="180858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lipse 50"/>
          <p:cNvSpPr/>
          <p:nvPr/>
        </p:nvSpPr>
        <p:spPr>
          <a:xfrm>
            <a:off x="5868144" y="2060848"/>
            <a:ext cx="288032" cy="288032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rgbClr val="0070C0"/>
                </a:solidFill>
              </a:ln>
            </a:endParaRPr>
          </a:p>
        </p:txBody>
      </p:sp>
      <p:sp>
        <p:nvSpPr>
          <p:cNvPr id="52" name="Ellipse 51"/>
          <p:cNvSpPr/>
          <p:nvPr/>
        </p:nvSpPr>
        <p:spPr>
          <a:xfrm>
            <a:off x="5940152" y="2132856"/>
            <a:ext cx="144016" cy="144016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4" name="Connecteur droit 53"/>
          <p:cNvCxnSpPr>
            <a:stCxn id="23" idx="7"/>
            <a:endCxn id="51" idx="3"/>
          </p:cNvCxnSpPr>
          <p:nvPr/>
        </p:nvCxnSpPr>
        <p:spPr>
          <a:xfrm flipV="1">
            <a:off x="4961867" y="2306699"/>
            <a:ext cx="948458" cy="708691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/>
          <p:cNvCxnSpPr>
            <a:stCxn id="22" idx="7"/>
            <a:endCxn id="51" idx="2"/>
          </p:cNvCxnSpPr>
          <p:nvPr/>
        </p:nvCxnSpPr>
        <p:spPr>
          <a:xfrm flipV="1">
            <a:off x="2945643" y="2204864"/>
            <a:ext cx="2922501" cy="82989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>
            <a:endCxn id="22" idx="4"/>
          </p:cNvCxnSpPr>
          <p:nvPr/>
        </p:nvCxnSpPr>
        <p:spPr>
          <a:xfrm flipV="1">
            <a:off x="2843808" y="3280609"/>
            <a:ext cx="0" cy="144016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/>
          <p:cNvCxnSpPr/>
          <p:nvPr/>
        </p:nvCxnSpPr>
        <p:spPr>
          <a:xfrm flipV="1">
            <a:off x="4872656" y="3261241"/>
            <a:ext cx="0" cy="144016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/>
          <p:cNvCxnSpPr>
            <a:stCxn id="17" idx="0"/>
          </p:cNvCxnSpPr>
          <p:nvPr/>
        </p:nvCxnSpPr>
        <p:spPr>
          <a:xfrm flipV="1">
            <a:off x="6012160" y="4581128"/>
            <a:ext cx="0" cy="13732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Ellipse 76"/>
          <p:cNvSpPr/>
          <p:nvPr/>
        </p:nvSpPr>
        <p:spPr>
          <a:xfrm>
            <a:off x="6258379" y="4000689"/>
            <a:ext cx="288032" cy="28803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dirty="0" smtClean="0">
                <a:solidFill>
                  <a:srgbClr val="C00000"/>
                </a:solidFill>
              </a:rPr>
              <a:t>1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78" name="Ellipse 77"/>
          <p:cNvSpPr/>
          <p:nvPr/>
        </p:nvSpPr>
        <p:spPr>
          <a:xfrm>
            <a:off x="6054139" y="2890742"/>
            <a:ext cx="288032" cy="288032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dirty="0">
                <a:solidFill>
                  <a:srgbClr val="0070C0"/>
                </a:solidFill>
              </a:rPr>
              <a:t>2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79" name="Ellipse 78"/>
          <p:cNvSpPr/>
          <p:nvPr/>
        </p:nvSpPr>
        <p:spPr>
          <a:xfrm>
            <a:off x="5292080" y="2727358"/>
            <a:ext cx="288032" cy="288032"/>
          </a:xfrm>
          <a:prstGeom prst="ellipse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dirty="0" smtClean="0">
                <a:solidFill>
                  <a:srgbClr val="FFC000"/>
                </a:solidFill>
              </a:rPr>
              <a:t>3</a:t>
            </a:r>
            <a:endParaRPr lang="fr-FR" dirty="0">
              <a:solidFill>
                <a:srgbClr val="FFC000"/>
              </a:solidFill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3972928" y="2348880"/>
            <a:ext cx="288032" cy="288032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dirty="0">
                <a:solidFill>
                  <a:srgbClr val="00B050"/>
                </a:solidFill>
              </a:rPr>
              <a:t>4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81" name="Ellipse 80"/>
          <p:cNvSpPr/>
          <p:nvPr/>
        </p:nvSpPr>
        <p:spPr>
          <a:xfrm>
            <a:off x="2483768" y="3855461"/>
            <a:ext cx="288032" cy="288032"/>
          </a:xfrm>
          <a:prstGeom prst="ellipse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dirty="0" smtClean="0">
                <a:solidFill>
                  <a:schemeClr val="bg1">
                    <a:lumMod val="50000"/>
                  </a:schemeClr>
                </a:solidFill>
              </a:rPr>
              <a:t>5</a:t>
            </a:r>
            <a:endParaRPr lang="fr-F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2" name="Ellipse 81"/>
          <p:cNvSpPr/>
          <p:nvPr/>
        </p:nvSpPr>
        <p:spPr>
          <a:xfrm>
            <a:off x="4946544" y="3863575"/>
            <a:ext cx="288032" cy="288032"/>
          </a:xfrm>
          <a:prstGeom prst="ellipse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6</a:t>
            </a:r>
            <a:endParaRPr lang="fr-F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3" name="Ellipse 82"/>
          <p:cNvSpPr/>
          <p:nvPr/>
        </p:nvSpPr>
        <p:spPr>
          <a:xfrm>
            <a:off x="4139412" y="3051402"/>
            <a:ext cx="288032" cy="288032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200" dirty="0">
                <a:solidFill>
                  <a:schemeClr val="accent6"/>
                </a:solidFill>
              </a:rPr>
              <a:t>7</a:t>
            </a:r>
            <a:endParaRPr lang="fr-FR" dirty="0">
              <a:solidFill>
                <a:schemeClr val="accent6"/>
              </a:solidFill>
            </a:endParaRPr>
          </a:p>
        </p:txBody>
      </p:sp>
      <p:sp>
        <p:nvSpPr>
          <p:cNvPr id="85" name="Ellipse 84"/>
          <p:cNvSpPr/>
          <p:nvPr/>
        </p:nvSpPr>
        <p:spPr>
          <a:xfrm>
            <a:off x="3878923" y="5421481"/>
            <a:ext cx="666074" cy="666074"/>
          </a:xfrm>
          <a:prstGeom prst="ellipse">
            <a:avLst/>
          </a:prstGeom>
          <a:noFill/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400" b="1" dirty="0" smtClean="0">
                <a:solidFill>
                  <a:schemeClr val="bg2">
                    <a:lumMod val="50000"/>
                  </a:schemeClr>
                </a:solidFill>
              </a:rPr>
              <a:t>8</a:t>
            </a:r>
            <a:endParaRPr lang="fr-FR" b="1" dirty="0">
              <a:solidFill>
                <a:schemeClr val="bg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ZoneTexte 85"/>
              <p:cNvSpPr txBox="1"/>
              <p:nvPr/>
            </p:nvSpPr>
            <p:spPr>
              <a:xfrm>
                <a:off x="6084168" y="4718454"/>
                <a:ext cx="34028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86" name="ZoneTexte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4718454"/>
                <a:ext cx="340285" cy="30777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ZoneTexte 86"/>
              <p:cNvSpPr txBox="1"/>
              <p:nvPr/>
            </p:nvSpPr>
            <p:spPr>
              <a:xfrm>
                <a:off x="6156176" y="2050975"/>
                <a:ext cx="34817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87" name="ZoneTexte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2050975"/>
                <a:ext cx="348172" cy="3077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ZoneTexte 87"/>
              <p:cNvSpPr txBox="1"/>
              <p:nvPr/>
            </p:nvSpPr>
            <p:spPr>
              <a:xfrm>
                <a:off x="4952051" y="2972832"/>
                <a:ext cx="34002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88" name="ZoneTexte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051" y="2972832"/>
                <a:ext cx="340029" cy="30777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ZoneTexte 88"/>
              <p:cNvSpPr txBox="1"/>
              <p:nvPr/>
            </p:nvSpPr>
            <p:spPr>
              <a:xfrm>
                <a:off x="2416766" y="2982704"/>
                <a:ext cx="3550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𝐷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89" name="ZoneTexte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766" y="2982704"/>
                <a:ext cx="355034" cy="30777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ZoneTexte 89"/>
              <p:cNvSpPr txBox="1"/>
              <p:nvPr/>
            </p:nvSpPr>
            <p:spPr>
              <a:xfrm>
                <a:off x="4961867" y="4708580"/>
                <a:ext cx="3407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𝐹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90" name="ZoneTexte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67" y="4708580"/>
                <a:ext cx="340734" cy="30777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ZoneTexte 90"/>
              <p:cNvSpPr txBox="1"/>
              <p:nvPr/>
            </p:nvSpPr>
            <p:spPr>
              <a:xfrm>
                <a:off x="2923004" y="4711867"/>
                <a:ext cx="3439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𝐸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91" name="ZoneTexte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004" y="4711867"/>
                <a:ext cx="343940" cy="30777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ZoneTexte 91"/>
              <p:cNvSpPr txBox="1"/>
              <p:nvPr/>
            </p:nvSpPr>
            <p:spPr>
              <a:xfrm>
                <a:off x="2821750" y="3707414"/>
                <a:ext cx="3464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92" name="ZoneTexte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50" y="3707414"/>
                <a:ext cx="346441" cy="307777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ZoneTexte 92"/>
              <p:cNvSpPr txBox="1"/>
              <p:nvPr/>
            </p:nvSpPr>
            <p:spPr>
              <a:xfrm>
                <a:off x="3851920" y="3859814"/>
                <a:ext cx="3552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𝐾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93" name="ZoneTexte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3859814"/>
                <a:ext cx="355225" cy="30777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ZoneTexte 93"/>
              <p:cNvSpPr txBox="1"/>
              <p:nvPr/>
            </p:nvSpPr>
            <p:spPr>
              <a:xfrm>
                <a:off x="4176998" y="3827432"/>
                <a:ext cx="29719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𝐽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94" name="ZoneTexte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998" y="3827432"/>
                <a:ext cx="297197" cy="307777"/>
              </a:xfrm>
              <a:prstGeom prst="rect">
                <a:avLst/>
              </a:prstGeom>
              <a:blipFill rotWithShape="1">
                <a:blip r:embed="rId10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ZoneTexte 94"/>
              <p:cNvSpPr txBox="1"/>
              <p:nvPr/>
            </p:nvSpPr>
            <p:spPr>
              <a:xfrm>
                <a:off x="4511210" y="3859093"/>
                <a:ext cx="36144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95" name="ZoneTexte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210" y="3859093"/>
                <a:ext cx="361446" cy="307777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Connecteur droit 95"/>
          <p:cNvCxnSpPr/>
          <p:nvPr/>
        </p:nvCxnSpPr>
        <p:spPr>
          <a:xfrm flipV="1">
            <a:off x="2415046" y="5577540"/>
            <a:ext cx="751425" cy="1"/>
          </a:xfrm>
          <a:prstGeom prst="line">
            <a:avLst/>
          </a:prstGeom>
          <a:ln w="12700">
            <a:solidFill>
              <a:schemeClr val="accent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/>
          <p:cNvCxnSpPr/>
          <p:nvPr/>
        </p:nvCxnSpPr>
        <p:spPr>
          <a:xfrm flipV="1">
            <a:off x="2415253" y="4856826"/>
            <a:ext cx="1513" cy="720715"/>
          </a:xfrm>
          <a:prstGeom prst="line">
            <a:avLst/>
          </a:prstGeom>
          <a:ln w="12700">
            <a:solidFill>
              <a:schemeClr val="accent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ZoneTexte 97"/>
              <p:cNvSpPr txBox="1"/>
              <p:nvPr/>
            </p:nvSpPr>
            <p:spPr>
              <a:xfrm>
                <a:off x="3085161" y="5426252"/>
                <a:ext cx="3263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98" name="ZoneTexte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161" y="5426252"/>
                <a:ext cx="326371" cy="307777"/>
              </a:xfrm>
              <a:prstGeom prst="rect">
                <a:avLst/>
              </a:prstGeom>
              <a:blipFill rotWithShape="1">
                <a:blip r:embed="rId12"/>
                <a:stretch>
                  <a:fillRect t="-11765" r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ZoneTexte 98"/>
              <p:cNvSpPr txBox="1"/>
              <p:nvPr/>
            </p:nvSpPr>
            <p:spPr>
              <a:xfrm>
                <a:off x="2250642" y="4581128"/>
                <a:ext cx="3288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400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1400" b="0" i="1" smtClean="0">
                              <a:latin typeface="Cambria Math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sz="1400" dirty="0"/>
              </a:p>
            </p:txBody>
          </p:sp>
        </mc:Choice>
        <mc:Fallback>
          <p:sp>
            <p:nvSpPr>
              <p:cNvPr id="99" name="ZoneTexte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642" y="4581128"/>
                <a:ext cx="328808" cy="307777"/>
              </a:xfrm>
              <a:prstGeom prst="rect">
                <a:avLst/>
              </a:prstGeom>
              <a:blipFill rotWithShape="1">
                <a:blip r:embed="rId13"/>
                <a:stretch>
                  <a:fillRect t="-11765" r="-148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056075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112</Words>
  <Application>Microsoft Office PowerPoint</Application>
  <PresentationFormat>Affichage à l'écran (4:3)</PresentationFormat>
  <Paragraphs>48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10</cp:revision>
  <dcterms:created xsi:type="dcterms:W3CDTF">2012-03-27T16:24:57Z</dcterms:created>
  <dcterms:modified xsi:type="dcterms:W3CDTF">2012-04-01T20:17:55Z</dcterms:modified>
</cp:coreProperties>
</file>